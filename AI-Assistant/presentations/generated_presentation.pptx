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1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10972800" cy="0"/>
          </a:xfrm>
        </p:spPr>
        <p:txBody>
          <a:bodyPr/>
          <a:lstStyle/>
          <a:p>
            <a:r>
              <a:rPr sz="4400" b="1">
                <a:solidFill>
                  <a:srgbClr val="FFFFFF"/>
                </a:solidFill>
                <a:latin typeface="Arial"/>
              </a:rPr>
              <a:t>Introduction to Object-Oriented Programming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71600"/>
            <a:ext cx="5943600" cy="5029200"/>
          </a:xfrm>
        </p:spPr>
        <p:txBody>
          <a:bodyPr wrap="square"/>
          <a:lstStyle/>
          <a:p>
            <a:pPr>
              <a:defRPr sz="2800">
                <a:solidFill>
                  <a:srgbClr val="DCDCDC"/>
                </a:solidFill>
                <a:latin typeface="Arial"/>
              </a:defRPr>
            </a:pPr>
            <a:r>
              <a:t>Defining classes</a:t>
            </a:r>
          </a:p>
          <a:p>
            <a:pPr>
              <a:defRPr sz="2800">
                <a:solidFill>
                  <a:srgbClr val="DCDCDC"/>
                </a:solidFill>
                <a:latin typeface="Arial"/>
              </a:defRPr>
            </a:pPr>
            <a:r>
              <a:t>Creating objects</a:t>
            </a:r>
          </a:p>
          <a:p>
            <a:pPr>
              <a:defRPr sz="2800">
                <a:solidFill>
                  <a:srgbClr val="DCDCDC"/>
                </a:solidFill>
                <a:latin typeface="Arial"/>
              </a:defRPr>
            </a:pPr>
            <a:r>
              <a:t>Accessing data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nsfor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572000" cy="65816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1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10972800" cy="0"/>
          </a:xfrm>
        </p:spPr>
        <p:txBody>
          <a:bodyPr/>
          <a:lstStyle/>
          <a:p>
            <a:r>
              <a:rPr sz="4400" b="1">
                <a:solidFill>
                  <a:srgbClr val="FFFFFF"/>
                </a:solidFill>
                <a:latin typeface="Arial"/>
              </a:rPr>
              <a:t>Conceptual Data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71600"/>
            <a:ext cx="5943600" cy="5029200"/>
          </a:xfrm>
        </p:spPr>
        <p:txBody>
          <a:bodyPr wrap="square"/>
          <a:lstStyle/>
          <a:p>
            <a:pPr>
              <a:defRPr sz="2800">
                <a:solidFill>
                  <a:srgbClr val="DCDCDC"/>
                </a:solidFill>
                <a:latin typeface="Arial"/>
              </a:defRPr>
            </a:pPr>
            <a:r>
              <a:t>Entities and attributes</a:t>
            </a:r>
          </a:p>
          <a:p>
            <a:pPr>
              <a:defRPr sz="2800">
                <a:solidFill>
                  <a:srgbClr val="DCDCDC"/>
                </a:solidFill>
                <a:latin typeface="Arial"/>
              </a:defRPr>
            </a:pPr>
            <a:r>
              <a:t>Relationships among entities</a:t>
            </a:r>
          </a:p>
          <a:p>
            <a:pPr>
              <a:defRPr sz="2800">
                <a:solidFill>
                  <a:srgbClr val="DCDCDC"/>
                </a:solidFill>
                <a:latin typeface="Arial"/>
              </a:defRPr>
            </a:pPr>
            <a:r>
              <a:t>Entity Relationship (ER)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allpaperflare.com_wallpaper (1)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1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Arial"/>
              </a:rPr>
              <a:t>Database Systems and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1645920"/>
            <a:ext cx="10360152" cy="4572000"/>
          </a:xfrm>
        </p:spPr>
        <p:txBody>
          <a:bodyPr wrap="square"/>
          <a:lstStyle/>
          <a:p>
            <a:pPr>
              <a:defRPr sz="3200">
                <a:solidFill>
                  <a:srgbClr val="DCDCDC"/>
                </a:solidFill>
                <a:latin typeface="Arial"/>
              </a:defRPr>
            </a:pPr>
            <a:r>
              <a:t>Database concepts</a:t>
            </a:r>
          </a:p>
          <a:p>
            <a:pPr>
              <a:defRPr sz="3200">
                <a:solidFill>
                  <a:srgbClr val="DCDCDC"/>
                </a:solidFill>
                <a:latin typeface="Arial"/>
              </a:defRPr>
            </a:pPr>
            <a:r>
              <a:t>Entity relationship modeling</a:t>
            </a:r>
          </a:p>
          <a:p>
            <a:pPr>
              <a:defRPr sz="3200">
                <a:solidFill>
                  <a:srgbClr val="DCDCDC"/>
                </a:solidFill>
                <a:latin typeface="Arial"/>
              </a:defRPr>
            </a:pPr>
            <a:r>
              <a:t>Database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1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Arial"/>
              </a:rPr>
              <a:t>Random Variables and Probability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1645920"/>
            <a:ext cx="10360152" cy="4572000"/>
          </a:xfrm>
        </p:spPr>
        <p:txBody>
          <a:bodyPr wrap="square"/>
          <a:lstStyle/>
          <a:p>
            <a:pPr>
              <a:defRPr sz="3200">
                <a:solidFill>
                  <a:srgbClr val="DCDCDC"/>
                </a:solidFill>
                <a:latin typeface="Arial"/>
              </a:defRPr>
            </a:pPr>
            <a:r>
              <a:t>Definition of random variables</a:t>
            </a:r>
          </a:p>
          <a:p>
            <a:pPr>
              <a:defRPr sz="3200">
                <a:solidFill>
                  <a:srgbClr val="DCDCDC"/>
                </a:solidFill>
                <a:latin typeface="Arial"/>
              </a:defRPr>
            </a:pPr>
            <a:r>
              <a:t>Sample space and probability</a:t>
            </a:r>
          </a:p>
          <a:p>
            <a:pPr>
              <a:defRPr sz="3200">
                <a:solidFill>
                  <a:srgbClr val="DCDCDC"/>
                </a:solidFill>
                <a:latin typeface="Arial"/>
              </a:defRPr>
            </a:pPr>
            <a:r>
              <a:t>Probability distributions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1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Arial"/>
              </a:rPr>
              <a:t>Example of Random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1645920"/>
            <a:ext cx="10360152" cy="4572000"/>
          </a:xfrm>
        </p:spPr>
        <p:txBody>
          <a:bodyPr wrap="square"/>
          <a:lstStyle/>
          <a:p>
            <a:pPr>
              <a:defRPr sz="3200">
                <a:solidFill>
                  <a:srgbClr val="DCDCDC"/>
                </a:solidFill>
                <a:latin typeface="Arial"/>
              </a:defRPr>
            </a:pPr>
            <a:r>
              <a:t>Sampling plan and defective items</a:t>
            </a:r>
          </a:p>
          <a:p>
            <a:pPr>
              <a:defRPr sz="3200">
                <a:solidFill>
                  <a:srgbClr val="DCDCDC"/>
                </a:solidFill>
                <a:latin typeface="Arial"/>
              </a:defRPr>
            </a:pPr>
            <a:r>
              <a:t>Evaluation of process</a:t>
            </a:r>
          </a:p>
          <a:p>
            <a:pPr>
              <a:defRPr sz="3200">
                <a:solidFill>
                  <a:srgbClr val="DCDCDC"/>
                </a:solidFill>
                <a:latin typeface="Arial"/>
              </a:defRPr>
            </a:pPr>
            <a:r>
              <a:t>Random variable X and its sample space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